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" TargetMode="External"/><Relationship Id="rId3" Type="http://schemas.openxmlformats.org/officeDocument/2006/relationships/hyperlink" Target="https://example.security-login.com" TargetMode="External"/><Relationship Id="rId1" Type="http://schemas.openxmlformats.org/officeDocument/2006/relationships/image" Target="../media/image-5-1.jpe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hyperlink" Target="https://about.fb.com/news/2021/12/taking-legal-action-against-phishing-attacks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ompany.security-login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596628"/>
            <a:ext cx="6296860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Phishing Awareness Training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382143"/>
            <a:ext cx="6296860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50" b="1" spc="-9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Recognize • Prevent • Respond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5233360" y="4154984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4401344"/>
            <a:ext cx="6296860" cy="86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CodeAlpha Cybersecurity Internship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Task 2: Phishing Awareness Training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Domain: Cybersecurity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553"/>
            <a:ext cx="10868745" cy="28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Phishing?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98175" y="844054"/>
            <a:ext cx="5453819" cy="1294705"/>
          </a:xfrm>
          <a:prstGeom prst="roundRect">
            <a:avLst>
              <a:gd name="adj" fmla="val 4886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981" y="890687"/>
            <a:ext cx="5278206" cy="14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981" y="1080095"/>
            <a:ext cx="5278206" cy="30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spcAft>
                <a:spcPts val="300"/>
              </a:spcAft>
              <a:buNone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Phishing is a type of cyberattack in which attackers use deceptive messages or websites to trick people into revealing sensitive information or performing unsafe actions.</a:t>
            </a:r>
            <a:endParaRPr lang="en-US" sz="65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Attackers often impersonate trusted people, companies, banks, services, or organizations.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981" y="1430933"/>
            <a:ext cx="5278206" cy="14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Common Targets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981" y="1620341"/>
            <a:ext cx="5278206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Usernames and passwords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Banking and payment information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 information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Authentication codes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Organizational credentials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209351" y="890687"/>
            <a:ext cx="5327219" cy="14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Common Phishing Channels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09351" y="1080095"/>
            <a:ext cx="5327219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Email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SMS and messaging applications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 calls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Social media</a:t>
            </a:r>
            <a:endParaRPr lang="en-US" sz="650" dirty="0"/>
          </a:p>
          <a:p>
            <a:pPr algn="l" marL="132080" indent="-132080">
              <a:lnSpc>
                <a:spcPct val="83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Fake websites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61475" y="2208709"/>
            <a:ext cx="10868745" cy="14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spc="-1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Attack Flow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2421434"/>
            <a:ext cx="10520595" cy="39479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36045" y="5404841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Exfiltration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336215" y="5404841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Steal Data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347253" y="5404841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Click Link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358291" y="5245883"/>
            <a:ext cx="1586822" cy="63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Send Message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325854" y="5245883"/>
            <a:ext cx="1586822" cy="63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Craft Message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10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Common Types of Phishing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44266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81634"/>
            <a:ext cx="53309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649637"/>
            <a:ext cx="533098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General fraudulent emails sent to many potential victims.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1744266"/>
            <a:ext cx="330688" cy="330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281634"/>
            <a:ext cx="53310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2649637"/>
            <a:ext cx="533108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Highly targeted phishing directed at a specific person or organization.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95340"/>
            <a:ext cx="330688" cy="3306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32709"/>
            <a:ext cx="53309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Smishing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100711"/>
            <a:ext cx="533098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Phishing performed through SMS or text messages.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3195340"/>
            <a:ext cx="330688" cy="3306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3732709"/>
            <a:ext cx="53310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Vishing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100711"/>
            <a:ext cx="533108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Phishing performed through voice calls or phone conversations.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46414"/>
            <a:ext cx="330688" cy="3306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183783"/>
            <a:ext cx="53309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Clone Phishing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1475" y="5551785"/>
            <a:ext cx="5330989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legitimate message is copied and modified to contain malicious content.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9132" y="4646414"/>
            <a:ext cx="330688" cy="3306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9132" y="5183783"/>
            <a:ext cx="53310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Website Phishing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199132" y="5551785"/>
            <a:ext cx="5331089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fake website is created to imitate a legitimate website and collect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078"/>
            <a:ext cx="10868745" cy="46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spc="-5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to Recognize a Phishing Email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008757"/>
            <a:ext cx="1086874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Red Flags Checklist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59183" y="1422896"/>
            <a:ext cx="5465626" cy="2194322"/>
          </a:xfrm>
          <a:prstGeom prst="roundRect">
            <a:avLst>
              <a:gd name="adj" fmla="val 4664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261" y="1545034"/>
            <a:ext cx="51814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Sender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1261" y="1898154"/>
            <a:ext cx="518147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complete sender email address.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 cautious of unfamiliar or slightly altered domains.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1261" y="2406452"/>
            <a:ext cx="51814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Message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1261" y="2759571"/>
            <a:ext cx="5181470" cy="81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Urgent or threatening language.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Unexpected requests for sensitive information.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Spelling or grammar mistakes.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Unusual requests for payments or account verification.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5528" y="1545034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Links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75528" y="1898154"/>
            <a:ext cx="5261042" cy="600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Hover over links before clicking.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actual destination.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 cautious of shortened or suspicious URLs.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5528" y="2620863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Attachments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75528" y="2973983"/>
            <a:ext cx="5261042" cy="557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 careful with unexpected attachments.</a:t>
            </a:r>
            <a:endParaRPr lang="en-US" sz="1100" dirty="0"/>
          </a:p>
          <a:p>
            <a:pPr algn="l" marL="223520" indent="-223520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open suspicious files simply because the message appears to come from someone familiar.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3800376"/>
            <a:ext cx="1086874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 Email — Red Flags Highlighted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214515"/>
          <a:ext cx="9143771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8694996"/>
              </a:tblGrid>
              <a:tr h="3340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From: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support@paypa1.com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← Misspelled domain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Subject: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URGENT: Your account will be suspended in 24 hours!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← Urgent/threatening language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Body: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Dear Customer,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Your account has been compromised.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Click here to verify your password immediately.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hxxp://paypa1-secure-login.com/verify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← Suspicious URL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— PayPal Security Team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61475" y="5885160"/>
            <a:ext cx="10868745" cy="474762"/>
          </a:xfrm>
          <a:prstGeom prst="roundRect">
            <a:avLst>
              <a:gd name="adj" fmla="val 12574"/>
            </a:avLst>
          </a:prstGeom>
          <a:solidFill>
            <a:srgbClr val="002A8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53" y="6045498"/>
            <a:ext cx="177597" cy="14208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23227" y="6042819"/>
            <a:ext cx="10874500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Pause before you click.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813991"/>
            <a:ext cx="6296860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to Identify a Fake Website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764804"/>
            <a:ext cx="2946723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Warning Signs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2198886"/>
            <a:ext cx="2946723" cy="3357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Suspicious or misspelled domain name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Unusual characters or misleading subdomains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Unexpected login or payment request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Poor grammar or inconsistent branding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Missing or suspicious contact information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Unusual urgency or security warnings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Website address does not match the organization being claimed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470787" y="1599505"/>
            <a:ext cx="3184842" cy="4444405"/>
          </a:xfrm>
          <a:prstGeom prst="roundRect">
            <a:avLst>
              <a:gd name="adj" fmla="val 3739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636082" y="1764804"/>
            <a:ext cx="285425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Domain Comparison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36082" y="2198886"/>
            <a:ext cx="2854254" cy="201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Legitimate-Looking Domain: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b="1" u="sng" dirty="0">
                <a:solidFill>
                  <a:srgbClr val="0044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Suspicious Domain: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b="1" u="sng" dirty="0">
                <a:solidFill>
                  <a:srgbClr val="0044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https://example.security-login.com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actual domain in the second example is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"security-login.com"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not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"example.com"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36082" y="4402634"/>
            <a:ext cx="2854254" cy="1455241"/>
          </a:xfrm>
          <a:prstGeom prst="roundRect">
            <a:avLst>
              <a:gd name="adj" fmla="val 4773"/>
            </a:avLst>
          </a:prstGeom>
          <a:solidFill>
            <a:srgbClr val="CCDD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376" y="4623296"/>
            <a:ext cx="206667" cy="165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73338" y="4592737"/>
            <a:ext cx="215170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Important: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HTTPS indicates an encrypted connection, but HTTPS alone does not prove that a website is legitimate.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471"/>
            <a:ext cx="10868745" cy="453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spc="-5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Social Engineering: How Attackers Manipulate People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51347"/>
            <a:ext cx="11478330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Social engineering involves manipulating human behavior to encourage a victim to reveal information or perform an action.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551087"/>
            <a:ext cx="3544402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673" y="1703288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8763" y="1818382"/>
            <a:ext cx="188312" cy="1883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673" y="2239566"/>
            <a:ext cx="32400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Urgency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3673" y="2536924"/>
            <a:ext cx="32400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"Act immediately or your account will be locked."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3547" y="1551087"/>
            <a:ext cx="3544501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5745" y="1703288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836" y="1818382"/>
            <a:ext cx="188312" cy="1883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5745" y="2239566"/>
            <a:ext cx="32401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75745" y="2536924"/>
            <a:ext cx="32401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"Your account has been compromised."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85719" y="1551087"/>
            <a:ext cx="3544501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7917" y="1703288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3008" y="1818382"/>
            <a:ext cx="188312" cy="1883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7917" y="2239566"/>
            <a:ext cx="32401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Authority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37917" y="2536924"/>
            <a:ext cx="32401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"I am calling from your bank/security department."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1475" y="2974082"/>
            <a:ext cx="3544402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3673" y="3126284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8763" y="3241377"/>
            <a:ext cx="188312" cy="1883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673" y="3662561"/>
            <a:ext cx="32400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Curiosity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13673" y="3959920"/>
            <a:ext cx="32400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"Look at this confidential document."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3547" y="2974082"/>
            <a:ext cx="3544501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5745" y="3126284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0836" y="3241377"/>
            <a:ext cx="188312" cy="1883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5745" y="3662561"/>
            <a:ext cx="32401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Reward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75745" y="3959920"/>
            <a:ext cx="32401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"You have won a prize. Claim it now."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85719" y="2974082"/>
            <a:ext cx="3544501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7917" y="3126284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3008" y="3241377"/>
            <a:ext cx="188312" cy="1883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7917" y="3662561"/>
            <a:ext cx="3240106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Trust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37917" y="3959920"/>
            <a:ext cx="3240106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"I'm your manager. Please complete this request."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61475" y="4397077"/>
            <a:ext cx="10868745" cy="1305322"/>
          </a:xfrm>
          <a:prstGeom prst="roundRect">
            <a:avLst>
              <a:gd name="adj" fmla="val 449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13673" y="4549279"/>
            <a:ext cx="418593" cy="41860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763" y="4664373"/>
            <a:ext cx="188312" cy="18831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13673" y="5085556"/>
            <a:ext cx="10564350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Scarcity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13673" y="5382915"/>
            <a:ext cx="10564350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"This offer expires in 10 minutes."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61475" y="5834856"/>
            <a:ext cx="10868745" cy="460573"/>
          </a:xfrm>
          <a:prstGeom prst="roundRect">
            <a:avLst>
              <a:gd name="adj" fmla="val 12726"/>
            </a:avLst>
          </a:prstGeom>
          <a:solidFill>
            <a:srgbClr val="002A80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973" y="5987355"/>
            <a:ext cx="174422" cy="13950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114893" y="5987355"/>
            <a:ext cx="10885414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Message: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Attackers often try to make victims act quickly before they have time to verify the request.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424"/>
            <a:ext cx="10868745" cy="100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b="1" spc="-6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Real-World Example: Facebook, Instagram &amp; WhatsApp Phishing Campaign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66999"/>
            <a:ext cx="3525948" cy="3182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1698" y="2041029"/>
            <a:ext cx="31016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1698" y="2380059"/>
            <a:ext cx="3101699" cy="249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December 2021, Meta reported taking legal action against a phishing operation.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attackers created more than </a:t>
            </a:r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39,000 fake websites</a:t>
            </a:r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impersonating the login pages of Facebook, Messenger, Instagram, and WhatsApp.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Victims were directed to these fake pages and prompted to enter their usernames and passwords.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attackers collected credentials entered by victims.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2774" y="1866999"/>
            <a:ext cx="3526047" cy="3182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82998" y="2041029"/>
            <a:ext cx="310179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Red Flags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82998" y="2380059"/>
            <a:ext cx="3101798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Fake login page designed to look like a trusted service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Deceptive or misleading website address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Request to enter login credentials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Impersonation of a trusted brand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4173" y="1866999"/>
            <a:ext cx="3526047" cy="3182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54397" y="2041029"/>
            <a:ext cx="3101798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Users Can Protect Themselves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254397" y="2631877"/>
            <a:ext cx="3101798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log in through unexpected links.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complete website domain before entering credentials.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Access services through the official application or website.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multi-factor authentication (MFA).</a:t>
            </a:r>
            <a:endParaRPr lang="en-US" sz="1200" dirty="0"/>
          </a:p>
          <a:p>
            <a:pPr algn="l" marL="243840" indent="-24384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suspicious phishing messages or websites.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94038" y="5376664"/>
            <a:ext cx="112457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Lesson: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"A website can look exactly like a legitimate login page and still be a phishing site. Always verify the domain before entering credentials."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61475" y="5213152"/>
            <a:ext cx="19050" cy="52228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4" name="Text 9"/>
          <p:cNvSpPr/>
          <p:nvPr/>
        </p:nvSpPr>
        <p:spPr>
          <a:xfrm>
            <a:off x="661475" y="5898952"/>
            <a:ext cx="1086874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Source: Meta Newsroom — "Taking Legal Action Against Phishing Attacks" December 20, 2021 —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i="1" u="sng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https://about.fb.com/news/2021/12/taking-legal-action-against-phishing-attacks/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950"/>
            <a:ext cx="10868745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Best Practices: Stop • Check • Verify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20006"/>
            <a:ext cx="5434373" cy="64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610" y="2116038"/>
            <a:ext cx="5114103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STOP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21610" y="2469455"/>
            <a:ext cx="5114103" cy="1187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click links immediately.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open unexpected attachments.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respond while under pressure.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Never share passwords or authentication codes through unsolicited messages.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320006"/>
            <a:ext cx="5434373" cy="6408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5983" y="2116038"/>
            <a:ext cx="5114103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CHECK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55983" y="2469455"/>
            <a:ext cx="5114103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sender's address.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URL/domain.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Look for unusual requests.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Examine the message for urgency or manipulation.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817342"/>
            <a:ext cx="5434373" cy="6408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610" y="4613374"/>
            <a:ext cx="5114103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VERIFY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1610" y="4966791"/>
            <a:ext cx="5114103" cy="928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Contact the organization through an official channel.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Independently verify unusual payment or account requests.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Access important services using their official website or application.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817342"/>
            <a:ext cx="5434373" cy="6408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5983" y="4613374"/>
            <a:ext cx="5114103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SAFE ACTION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255983" y="4966791"/>
            <a:ext cx="5114103" cy="1242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strong, unique passwords.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multi-factor authentication.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operating systems and applications updated.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security software where appropriate.</a:t>
            </a:r>
            <a:endParaRPr lang="en-US" sz="1250" dirty="0"/>
          </a:p>
          <a:p>
            <a:pPr algn="l" marL="254000" indent="-254000">
              <a:lnSpc>
                <a:spcPct val="107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suspicious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8385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Interactive Quiz: Can You Spot the Phish?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076549"/>
            <a:ext cx="3512653" cy="3572966"/>
          </a:xfrm>
          <a:prstGeom prst="roundRect">
            <a:avLst>
              <a:gd name="adj" fmla="val 1978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5819" y="2260898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2628900"/>
            <a:ext cx="3143965" cy="11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receive an email saying: 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"URGENT! Your bank account will be suspended today. Click here to verify your password."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should you do?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5819" y="3902373"/>
            <a:ext cx="3143965" cy="1248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A. Click immediately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 Reply with your password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 Access the bank through its official website/app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D. Forward the email to friends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5819" y="5250160"/>
            <a:ext cx="3143965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Correct answer: 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2076549"/>
            <a:ext cx="3512752" cy="3572966"/>
          </a:xfrm>
          <a:prstGeom prst="roundRect">
            <a:avLst>
              <a:gd name="adj" fmla="val 1977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766" y="2260898"/>
            <a:ext cx="314406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3766" y="2628900"/>
            <a:ext cx="3144064" cy="959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message claims to be from a company but the link points to: 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u="sng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https://company.security-login.com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should you check first?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3766" y="3687366"/>
            <a:ext cx="3144064" cy="1033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A. Website color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 Domain name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 Number of images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D. Font 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3766" y="4820146"/>
            <a:ext cx="314406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Correct answer: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076549"/>
            <a:ext cx="3512653" cy="3572966"/>
          </a:xfrm>
          <a:prstGeom prst="roundRect">
            <a:avLst>
              <a:gd name="adj" fmla="val 1978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1812" y="2260898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01812" y="2628900"/>
            <a:ext cx="3143965" cy="1389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Someone pretending to be your manager says: 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"I need this payment completed within 10 minutes. Don't call me because I'm in a meeting."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Which social-engineering tactics are being used?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01812" y="4117380"/>
            <a:ext cx="3143965" cy="1033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A. Authority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 Urgency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 Secrecy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D. All of the above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01812" y="5250160"/>
            <a:ext cx="3143965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Correct answer: 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039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to Do &amp; Key Takeaways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542554"/>
            <a:ext cx="5470785" cy="2666504"/>
          </a:xfrm>
          <a:prstGeom prst="roundRect">
            <a:avLst>
              <a:gd name="adj" fmla="val 4466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707852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If You Clicked a Phishing Link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141934"/>
            <a:ext cx="5140196" cy="2009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interacting with the suspicious page.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you entered credentials, change the affected password from a trusted device.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or reset multi-factor authentication where appropriate.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the phishing message.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Inform your organization's security/IT team if it involves a work account.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the affected account for suspicious activity.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707852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141934"/>
            <a:ext cx="5232666" cy="18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Check the sender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Verify links and domains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🚨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Don't trust urgency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🔐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Never share passwords or authentication codes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🛡️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Use MFA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Verify unusual requests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🚩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Report suspicious messages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9516" y="4581128"/>
            <a:ext cx="1123028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Think Before You Click.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395093"/>
            <a:ext cx="19050" cy="587077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20948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5455841"/>
            <a:ext cx="10868745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CodeAlpha Cybersecurity Internship — Task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44C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2026-09-28T10:48:13Z</dcterms:created>
  <dcterms:modified xsi:type="dcterms:W3CDTF">2026-09-28T10:48:13Z</dcterms:modified>
</cp:coreProperties>
</file>